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同学们好！欢迎来到今天的语文课堂。在正式进入课文之前，我们先来聊聊大家熟悉的感觉。
大家看屏幕，今天的主题是‘冬天的两种模样’。说到冬天，你可能会想到寒风凛冽，但在中国现代文学中，冬天也有截然不同的面孔。
还记得朱自清先生的《春》吗？那里面的春天是温暖、生机勃勃且喧闹的。而与这种热烈的春意相对，老舍先生笔下的济南冬天，却呈现出一种寒冷中的温情、静谧与独特。这两种截然不同的感官体验，形成了鲜明的对比。
从《春》到《济南的冬天》，我们今天要跨越季节，去探寻这种独特的文学美感。
这就引出了我们要探讨的核心问题：在老舍先生眼中，济南的冬天为什么会被形容为‘温晴’呢？通常我们认为冬天是冷冽的，这个‘温’字从何而来？
为了找到答案，让我们一起走进老舍先生的散文《济南的冬天》。老舍，原名舒庆春，是现代著名作家，他的散文以语言朴实、情感真挚著称。
在这节课中，我们将完成三大任务：第一，读准字音，扫清阅读障碍；第二，品读语言，赏析其中的修辞之美；第三，体会情感，感悟作者对济南这座城市的深厚情感。让我们开始吧！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大家请翻开课文，我们先进行初读感知。这一环节的目标很明确：读准字音，理清结构。
首先，我们要扫清字词障碍。请看屏幕左侧的‘字词正音’部分。
这里有一些容易读错的生字，比如‘镶’读xiāng，‘髻’读jì，‘着落’的‘着’读zhuó，还有‘贮蓄’和‘澄清’。请大家跟随音频，大声朗读两遍，确保发音准确。
现在，让我们点击播放按钮，听听示范朗读，感受老舍先生文字中的节奏与韵味。
听完范读，我们来理清文章的结构。请看右侧的‘结构梳理’。
文章开头总领全文，指出济南是个‘宝地’，特点是‘温晴’。
接着，文章分三个层次进行描写：阳光下的山、雪后的山，以及冬天的水。
最后，文章以‘摇篮中的济南’作结，再次总结，表达了对济南冬天的喜爱之情。这就是典型的‘总—分—总’结构。
现在，请同学们同桌互相交流一下：如果让你用一句话概括课文主要写了什么，你会怎么说？
好，时间到。老师听到很多同学已经总结出来了，比如‘本文描绘了济南冬天温暖晴朗的景色，表达了作者对济南的喜爱’。非常准确！接下来，我们将深入文本，去探寻那些‘温晴’的踪迹。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同学们，刚才我们圈点出了文中‘温晴’的踪迹，那么老舍先生究竟用了什么魔法，才把济南的冬天写得如此温暖可爱呢？让我们来看看三位 AI 同学对这一主问题的不同见解。
首先看观点 A，小暖认为靠的是拟人手法。她指出，作者用‘睡着’、‘害了羞’这样的词，把济南城写成了一个有生命、会害羞的朋友，让人倍感亲切。
接着是观点 B，小理侧重于对比手法。他认为，老舍先生通过与北平的风、伦敦的雾以及热带的毒日头进行对比，从而突显出济南冬天特有的‘温晴’之美。
最后是观点 C，小美提到了情感投射。她说，因为作者打心底里热爱济南，这种真挚的情感投射到了景物上，所以看什么都带着暖意。
现在请大家听听三位同学的具体发言，然后投票选出你认为最有说服力的观点，并准备好说明你的理由。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好了，刚才通过小组投票，大家对老舍笔下的“暖”有了直观的感受。接下来，我们要深入一步，解开老舍先生那句“济南真算是个宝地”背后的情感密码。
请看主问题二：文中“济南真算是个宝地”贯穿了怎样的情感？请大家回想一下，老舍先生在写济南的山、水、阳光时，字里行间流露出的是一种什么样的心情？是单纯的喜欢，还是更深沉的眷恋？
这就引出了主问题三：景物的温暖来自哪里？其实，这种温暖不仅仅是气候带来的，更来自作者情感的投射。这就是我们常说的“情景交融”——作者把自己对济南的热爱，投射到了每一处景物上，所以景物才显得如此温暖动人。
正如这句小结所说：“一切景语皆情语”。温暖的景色背后，其实是老舍先生那颗眷恋与赞美的心。理解了这一点，你就能读懂老舍文字深处的温度。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刚才我们深入体会了老舍先生笔下的温情，现在让我们退后一步，从整体结构来看这篇课文。请看这张板书设计，它能帮助大家理清《济南的冬天》的逻辑脉络。
文章开头，老舍先生用‘温晴’二字奠定了全篇的基调，称济南为‘宝地’。这就是全文的‘文眼’，它像一根主线，统领了整篇文章的情感色彩。
接着，文章通过三个具体的画面层层铺展：阳光下的山、雪后的山，以及清澈的水。这三个部分分别描绘了济南冬天不同侧面的温暖与安适，构成了文章的主体。
最后，文章以‘摇篮中的济南’收尾，再次强调温暖安适的感觉，这与开头形成了完美的首尾呼应，结构非常严谨。
总结一下，老舍先生在写法上巧妙运用了对比、拟人和情景交融的手法，使得文章内容清晰、结构完整。希望大家在后续的学习中，能试着模仿这种结构来构思自己的片段。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接下来，我们进入‘读写结合·迁移运用’的环节。刚才我们深入分析了老舍先生描写济南冬天的手法，现在请大家尝试将这些技巧应用到自己的写作中。
首先看任务一，这是一个仿写练习。请仿照课文的写法，写一段150字左右的写景片段，重点是要抓住景物‘一个’鲜明特点。不必面面俱到，而是要像老舍先生写‘温晴’那样，突出核心特征。
为了帮助大家更好地入手，老师这里准备了一个示范例子。
大家读读这段描写夏荷的文字。注意作者如何运用比喻，将荷叶比作‘碧绿的伞盖’，既写出了颜色，又写出了形态和覆盖感，这就是‘抓住特点’的具体体现。
现在，请在练习本上完成你的片段写作。如果你在构思上有困难，也可以参考任务二或任务三，比如阅读老舍的其他作品进行比较，或者先构思如何向家人讲述课文。给大家五分钟时间。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测验环节大家完成得非常棒！现在，让我们对今天的课程做一个全面的总结，并布置相应的作业。
首先，在内容回顾上，我们紧紧抓住了济南冬天“温晴”这一核心特征，通过描绘宝地、小山、水和像摇篮一样的安适环境，构建了一幅温暖动人的画面。
在写法赏析方面，老舍先生巧妙运用了对比手法，通过拟人赋予山水以生命，真正做到了情景交融，让文字充满了灵气。
而在情感体悟上，我们要铭记“一切景语皆情语”，字里行间流露出的，是作者对济南深深的眷恋与赞美。
接下来的分层作业请大家根据自己的情况选择。基础部分包括抄写生字词、朗读背诵和完成课后习题；拓展部分鼓励大家尝试仿写一段景物描写，或者阅读老舍先生的其他作品，甚至讲给家人听。
最后提醒一下，本课程支持导出 .pptx 课件，也可生成离线课堂包，方便大家在无网络环境下复习。感谢大家今天的专注与投入，希望济南的冬天能给大家留下温暖的记忆。下课！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课堂导入：冬天的两种模样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0584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从《春》到《济南的冬天》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548640" y="1554480"/>
            <a:ext cx="42062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回忆与对比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朱自清《春》：温暖、生机、喧闹；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老舍《济南的冬天》：寒冷中的温情、静谧、独特。</a:t>
            </a:r>
            <a:endParaRPr lang="en-US" sz="1152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420624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老舍笔下的济南冬天，为什么用『温晴』来形容？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420624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课题：《济南的冬天》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作者：老舍（舒庆春），现代著名作家。文体：散文，以语言朴实、情感真挚著称。</a:t>
            </a:r>
            <a:endParaRPr lang="en-US" sz="1152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4206240" cy="859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本节课三大任务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读准字词，扫清阅读障碍；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品读语言，赏析修辞之美；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体会情感，感悟作者对济南的热爱。</a:t>
            </a:r>
            <a:endParaRPr lang="en-US" sz="1152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554480"/>
            <a:ext cx="3566160" cy="30998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5102352"/>
            <a:ext cx="9144000" cy="36576"/>
          </a:xfrm>
          <a:custGeom>
            <a:avLst/>
            <a:gdLst/>
            <a:ahLst/>
            <a:cxnLst/>
            <a:rect l="l" t="t" r="r" b="b"/>
            <a:pathLst>
              <a:path w="9144000" h="36576">
                <a:moveTo>
                  <a:pt x="0" y="0"/>
                </a:moveTo>
                <a:lnTo>
                  <a:pt x="9144000" y="0"/>
                </a:lnTo>
                <a:lnTo>
                  <a:pt x="914400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E2E8F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初读感知：读准字音，理清结构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8288"/>
          </a:xfrm>
          <a:custGeom>
            <a:avLst/>
            <a:gdLst/>
            <a:ahLst/>
            <a:cxnLst/>
            <a:rect l="l" t="t" r="r" b="b"/>
            <a:pathLst>
              <a:path w="8046720" h="18288">
                <a:moveTo>
                  <a:pt x="0" y="0"/>
                </a:moveTo>
                <a:lnTo>
                  <a:pt x="8046720" y="0"/>
                </a:lnTo>
                <a:lnTo>
                  <a:pt x="804672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280160"/>
            <a:ext cx="3291840" cy="2651760"/>
          </a:xfrm>
          <a:custGeom>
            <a:avLst/>
            <a:gdLst/>
            <a:ahLst/>
            <a:cxnLst/>
            <a:rect l="l" t="t" r="r" b="b"/>
            <a:pathLst>
              <a:path w="3291840" h="2651760">
                <a:moveTo>
                  <a:pt x="0" y="0"/>
                </a:moveTo>
                <a:lnTo>
                  <a:pt x="3291840" y="0"/>
                </a:lnTo>
                <a:lnTo>
                  <a:pt x="3291840" y="2651760"/>
                </a:lnTo>
                <a:lnTo>
                  <a:pt x="0" y="2651760"/>
                </a:ln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17320"/>
            <a:ext cx="29260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字词正音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31520" y="1965960"/>
            <a:ext cx="2926080" cy="1572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镶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(xiāng)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髻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(jì)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着落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(zhuó luò)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贮蓄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(zhù xù)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澄清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115E5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(chéng qīng)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92608" h="292608">
                <a:moveTo>
                  <a:pt x="292608" y="146304"/>
                </a:moveTo>
                <a:cubicBezTo>
                  <a:pt x="292608" y="227051"/>
                  <a:pt x="227051" y="292608"/>
                  <a:pt x="146304" y="292608"/>
                </a:cubicBezTo>
                <a:cubicBezTo>
                  <a:pt x="65557" y="292608"/>
                  <a:pt x="0" y="227051"/>
                  <a:pt x="0" y="146304"/>
                </a:cubicBezTo>
                <a:cubicBezTo>
                  <a:pt x="0" y="65557"/>
                  <a:pt x="65557" y="0"/>
                  <a:pt x="146304" y="0"/>
                </a:cubicBezTo>
                <a:cubicBezTo>
                  <a:pt x="227051" y="0"/>
                  <a:pt x="292608" y="65557"/>
                  <a:pt x="292608" y="146304"/>
                </a:cubicBezTo>
                <a:close/>
              </a:path>
            </a:pathLst>
          </a:cu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94944" y="3593592"/>
            <a:ext cx="3657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🔊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023360" y="1280160"/>
            <a:ext cx="4572000" cy="2651760"/>
          </a:xfrm>
          <a:custGeom>
            <a:avLst/>
            <a:gdLst/>
            <a:ahLst/>
            <a:cxnLst/>
            <a:rect l="l" t="t" r="r" b="b"/>
            <a:pathLst>
              <a:path w="4572000" h="2651760">
                <a:moveTo>
                  <a:pt x="0" y="0"/>
                </a:moveTo>
                <a:lnTo>
                  <a:pt x="4572000" y="0"/>
                </a:lnTo>
                <a:lnTo>
                  <a:pt x="4572000" y="2651760"/>
                </a:lnTo>
                <a:lnTo>
                  <a:pt x="0" y="2651760"/>
                </a:lnTo>
                <a:close/>
              </a:path>
            </a:pathLst>
          </a:custGeom>
          <a:solidFill>
            <a:srgbClr val="F0FDFA"/>
          </a:solidFill>
          <a:ln/>
        </p:spPr>
      </p:sp>
      <p:sp>
        <p:nvSpPr>
          <p:cNvPr id="11" name="Text 8"/>
          <p:cNvSpPr/>
          <p:nvPr/>
        </p:nvSpPr>
        <p:spPr>
          <a:xfrm>
            <a:off x="4206240" y="1417320"/>
            <a:ext cx="420624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结构梳理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4389120" y="1920240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宝地·温晴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6766560" y="2395728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27432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14" name="Text 11"/>
          <p:cNvSpPr/>
          <p:nvPr/>
        </p:nvSpPr>
        <p:spPr>
          <a:xfrm>
            <a:off x="4389120" y="2578608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阳光下的山 / 雪后的山 / 水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6766560" y="3054096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27432">
            <a:solidFill>
              <a:srgbClr val="0D9488"/>
            </a:solidFill>
            <a:prstDash val="solid"/>
            <a:headEnd type="none"/>
            <a:tailEnd type="arrow"/>
          </a:ln>
        </p:spPr>
      </p:sp>
      <p:sp>
        <p:nvSpPr>
          <p:cNvPr id="16" name="Text 13"/>
          <p:cNvSpPr/>
          <p:nvPr/>
        </p:nvSpPr>
        <p:spPr>
          <a:xfrm>
            <a:off x="4389120" y="3236976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—— 摇篮中的济南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CCFBF1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151376"/>
            <a:ext cx="43891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0F76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课文主要写了什么？请用一句话概括。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5120640" y="4169664"/>
            <a:ext cx="329184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同桌互说，教师正音释义。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D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5C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同学讨论：老舍怎样写暖冬天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8C62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主问题：老舍是怎样把冬天写得温暖可爱的？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2468880" cy="2103120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6" name="Shape 3"/>
          <p:cNvSpPr/>
          <p:nvPr/>
        </p:nvSpPr>
        <p:spPr>
          <a:xfrm>
            <a:off x="3337560" y="1737360"/>
            <a:ext cx="2468880" cy="2103120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7" name="Shape 4"/>
          <p:cNvSpPr/>
          <p:nvPr/>
        </p:nvSpPr>
        <p:spPr>
          <a:xfrm>
            <a:off x="6126480" y="1737360"/>
            <a:ext cx="2468880" cy="2103120"/>
          </a:xfrm>
          <a:custGeom>
            <a:avLst/>
            <a:gdLst/>
            <a:ahLst/>
            <a:cxnLst/>
            <a:rect l="l" t="t" r="r" b="b"/>
            <a:pathLst>
              <a:path w="2468880" h="2103120">
                <a:moveTo>
                  <a:pt x="0" y="0"/>
                </a:moveTo>
                <a:lnTo>
                  <a:pt x="2468880" y="0"/>
                </a:lnTo>
                <a:lnTo>
                  <a:pt x="2468880" y="2103120"/>
                </a:lnTo>
                <a:lnTo>
                  <a:pt x="0" y="210312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920240"/>
            <a:ext cx="21031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 A：拟人手法</a:t>
            </a:r>
            <a:endParaRPr lang="en-US" sz="1152" dirty="0"/>
          </a:p>
        </p:txBody>
      </p:sp>
      <p:sp>
        <p:nvSpPr>
          <p:cNvPr id="9" name="Text 6"/>
          <p:cNvSpPr/>
          <p:nvPr/>
        </p:nvSpPr>
        <p:spPr>
          <a:xfrm>
            <a:off x="731520" y="2468880"/>
            <a:ext cx="210312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靠拟人手法——『睡着』『害了羞』把济南写成有生命的朋友。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520440" y="1920240"/>
            <a:ext cx="21031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 B：对比手法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520440" y="2468880"/>
            <a:ext cx="210312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靠对比手法——与北平、伦敦、热带对比，突出『温晴』。</a:t>
            </a:r>
            <a:endParaRPr lang="en-US" sz="1152" dirty="0"/>
          </a:p>
        </p:txBody>
      </p:sp>
      <p:sp>
        <p:nvSpPr>
          <p:cNvPr id="12" name="Text 9"/>
          <p:cNvSpPr/>
          <p:nvPr/>
        </p:nvSpPr>
        <p:spPr>
          <a:xfrm>
            <a:off x="6309360" y="1920240"/>
            <a:ext cx="21031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观点 C：情感投射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6309360" y="2468880"/>
            <a:ext cx="2103120" cy="10789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靠情感投射——作者打心底爱济南，所以看什么都是暖的。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548640" y="411480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E67E22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4151376"/>
            <a:ext cx="768096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学生任务：听三位 AI 同学的发言，投票选出最有说服力的观点并说明理由。</a:t>
            </a:r>
            <a:endParaRPr lang="en-US" sz="115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4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研读探究：『济南真算是个宝地』的情感密码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1097280"/>
            <a:ext cx="804672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7A5C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围绕主问题二和三，组织小组合作探究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3840480" y="1737360"/>
            <a:ext cx="0" cy="2926080"/>
          </a:xfrm>
          <a:custGeom>
            <a:avLst/>
            <a:gdLst/>
            <a:ahLst/>
            <a:cxnLst/>
            <a:rect l="l" t="t" r="r" b="b"/>
            <a:pathLst>
              <a:path w="0" h="2926080">
                <a:moveTo>
                  <a:pt x="0" y="0"/>
                </a:moveTo>
                <a:lnTo>
                  <a:pt x="0" y="2926080"/>
                </a:lnTo>
              </a:path>
            </a:pathLst>
          </a:custGeom>
          <a:noFill/>
          <a:ln w="18288">
            <a:solidFill>
              <a:srgbClr val="D4C4B7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48640" y="1737360"/>
            <a:ext cx="310896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主问题二：文中『济南真算是个宝地』贯穿了怎样的情感？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310896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主问题三：景物的温暖来自哪里？——来自作者情感的投射（情景交融）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114800" y="1737360"/>
            <a:ext cx="4480560" cy="1280160"/>
          </a:xfrm>
          <a:custGeom>
            <a:avLst/>
            <a:gdLst/>
            <a:ahLst/>
            <a:cxnLst/>
            <a:rect l="l" t="t" r="r" b="b"/>
            <a:pathLst>
              <a:path w="4480560" h="1280160">
                <a:moveTo>
                  <a:pt x="0" y="0"/>
                </a:moveTo>
                <a:lnTo>
                  <a:pt x="4480560" y="0"/>
                </a:lnTo>
                <a:lnTo>
                  <a:pt x="4480560" y="1280160"/>
                </a:lnTo>
                <a:lnTo>
                  <a:pt x="0" y="1280160"/>
                </a:lnTo>
                <a:close/>
              </a:path>
            </a:pathLst>
          </a:custGeom>
          <a:solidFill>
            <a:srgbClr val="F5EEDC"/>
          </a:solidFill>
          <a:ln/>
        </p:spPr>
      </p:sp>
      <p:sp>
        <p:nvSpPr>
          <p:cNvPr id="9" name="Text 6"/>
          <p:cNvSpPr/>
          <p:nvPr/>
        </p:nvSpPr>
        <p:spPr>
          <a:xfrm>
            <a:off x="4297680" y="1865376"/>
            <a:ext cx="4114800" cy="102412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8A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联系自身经历，谈一谈你心中类似的『宝地』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114800" y="3383280"/>
            <a:ext cx="4480560" cy="12984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8A5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师生共同小结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4A33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一切景语皆情语，温暖的景背后是眷恋与赞美的心</a:t>
            </a:r>
            <a:endParaRPr lang="en-US" sz="115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板书设计：一张图看懂课文结构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960120"/>
            <a:ext cx="8046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《济南的冬天》结构解析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743200" y="1463040"/>
            <a:ext cx="3657600" cy="457200"/>
          </a:xfrm>
          <a:custGeom>
            <a:avLst/>
            <a:gdLst/>
            <a:ahLst/>
            <a:cxnLst/>
            <a:rect l="l" t="t" r="r" b="b"/>
            <a:pathLst>
              <a:path w="3657600" h="457200">
                <a:moveTo>
                  <a:pt x="0" y="0"/>
                </a:moveTo>
                <a:lnTo>
                  <a:pt x="3657600" y="0"/>
                </a:lnTo>
                <a:lnTo>
                  <a:pt x="36576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6" name="Text 3"/>
          <p:cNvSpPr/>
          <p:nvPr/>
        </p:nvSpPr>
        <p:spPr>
          <a:xfrm>
            <a:off x="2834640" y="1481328"/>
            <a:ext cx="3474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宝地（温晴）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文眼，统领全篇</a:t>
            </a:r>
            <a:endParaRPr lang="en-US" sz="1152" dirty="0"/>
          </a:p>
        </p:txBody>
      </p:sp>
      <p:sp>
        <p:nvSpPr>
          <p:cNvPr id="7" name="Shape 4"/>
          <p:cNvSpPr/>
          <p:nvPr/>
        </p:nvSpPr>
        <p:spPr>
          <a:xfrm>
            <a:off x="4572000" y="1920240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8288">
            <a:solidFill>
              <a:srgbClr val="D35400"/>
            </a:solidFill>
            <a:prstDash val="solid"/>
            <a:headEnd type="none"/>
            <a:tailEnd type="arrow"/>
          </a:ln>
        </p:spPr>
      </p:sp>
      <p:sp>
        <p:nvSpPr>
          <p:cNvPr id="8" name="Shape 5"/>
          <p:cNvSpPr/>
          <p:nvPr/>
        </p:nvSpPr>
        <p:spPr>
          <a:xfrm>
            <a:off x="548640" y="2103120"/>
            <a:ext cx="8046720" cy="731520"/>
          </a:xfrm>
          <a:custGeom>
            <a:avLst/>
            <a:gdLst/>
            <a:ahLst/>
            <a:cxnLst/>
            <a:rect l="l" t="t" r="r" b="b"/>
            <a:pathLst>
              <a:path w="8046720" h="731520">
                <a:moveTo>
                  <a:pt x="0" y="0"/>
                </a:moveTo>
                <a:lnTo>
                  <a:pt x="8046720" y="0"/>
                </a:lnTo>
                <a:lnTo>
                  <a:pt x="8046720" y="731520"/>
                </a:lnTo>
                <a:lnTo>
                  <a:pt x="0" y="731520"/>
                </a:lnTo>
                <a:close/>
              </a:path>
            </a:pathLst>
          </a:custGeom>
          <a:solidFill>
            <a:srgbClr val="F0F7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148840"/>
            <a:ext cx="786384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阳光下的山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(温暖安适)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|    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雪后的山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(秀气娇美)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|    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2980B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(澄清绿亮)</a:t>
            </a:r>
            <a:endParaRPr lang="en-US" sz="1152" dirty="0"/>
          </a:p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三个画面，层层铺展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572000" y="2834640"/>
            <a:ext cx="0" cy="182880"/>
          </a:xfrm>
          <a:custGeom>
            <a:avLst/>
            <a:gdLst/>
            <a:ahLst/>
            <a:cxnLst/>
            <a:rect l="l" t="t" r="r" b="b"/>
            <a:pathLst>
              <a:path w="0" h="182880">
                <a:moveTo>
                  <a:pt x="0" y="0"/>
                </a:moveTo>
                <a:lnTo>
                  <a:pt x="0" y="182880"/>
                </a:lnTo>
              </a:path>
            </a:pathLst>
          </a:custGeom>
          <a:noFill/>
          <a:ln w="18288">
            <a:solidFill>
              <a:srgbClr val="2980B9"/>
            </a:solidFill>
            <a:prstDash val="solid"/>
            <a:headEnd type="none"/>
            <a:tailEnd type="arrow"/>
          </a:ln>
        </p:spPr>
      </p:sp>
      <p:sp>
        <p:nvSpPr>
          <p:cNvPr id="11" name="Shape 8"/>
          <p:cNvSpPr/>
          <p:nvPr/>
        </p:nvSpPr>
        <p:spPr>
          <a:xfrm>
            <a:off x="2743200" y="3017520"/>
            <a:ext cx="3657600" cy="457200"/>
          </a:xfrm>
          <a:custGeom>
            <a:avLst/>
            <a:gdLst/>
            <a:ahLst/>
            <a:cxnLst/>
            <a:rect l="l" t="t" r="r" b="b"/>
            <a:pathLst>
              <a:path w="3657600" h="457200">
                <a:moveTo>
                  <a:pt x="0" y="0"/>
                </a:moveTo>
                <a:lnTo>
                  <a:pt x="3657600" y="0"/>
                </a:lnTo>
                <a:lnTo>
                  <a:pt x="36576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12" name="Text 9"/>
          <p:cNvSpPr/>
          <p:nvPr/>
        </p:nvSpPr>
        <p:spPr>
          <a:xfrm>
            <a:off x="2834640" y="3035808"/>
            <a:ext cx="347472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摇篮中的济南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 温暖安适，首尾呼应</a:t>
            </a:r>
            <a:endParaRPr lang="en-US" sz="1152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8046720" cy="548640"/>
          </a:xfrm>
          <a:custGeom>
            <a:avLst/>
            <a:gdLst/>
            <a:ahLst/>
            <a:cxnLst/>
            <a:rect l="l" t="t" r="r" b="b"/>
            <a:pathLst>
              <a:path w="8046720" h="548640">
                <a:moveTo>
                  <a:pt x="0" y="0"/>
                </a:moveTo>
                <a:lnTo>
                  <a:pt x="8046720" y="0"/>
                </a:lnTo>
                <a:lnTo>
                  <a:pt x="80467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3886200"/>
            <a:ext cx="76809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写作手法小结：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内容结构清晰，写法上运用对比、拟人、情景交融</a:t>
            </a:r>
            <a:endParaRPr lang="en-US" sz="115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457200"/>
            <a:ext cx="8229600" cy="5852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016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拓展延伸：学以致用，片段仿写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457200" y="960120"/>
            <a:ext cx="822960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CAF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读写结合 · 迁移运用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457200" y="1417320"/>
            <a:ext cx="8229600" cy="18288"/>
          </a:xfrm>
          <a:custGeom>
            <a:avLst/>
            <a:gdLst/>
            <a:ahLst/>
            <a:cxnLst/>
            <a:rect l="l" t="t" r="r" b="b"/>
            <a:pathLst>
              <a:path w="8229600" h="18288">
                <a:moveTo>
                  <a:pt x="0" y="0"/>
                </a:moveTo>
                <a:lnTo>
                  <a:pt x="8229600" y="0"/>
                </a:lnTo>
                <a:lnTo>
                  <a:pt x="8229600" y="18288"/>
                </a:lnTo>
                <a:lnTo>
                  <a:pt x="0" y="18288"/>
                </a:lnTo>
                <a:close/>
              </a:path>
            </a:pathLst>
          </a:custGeom>
          <a:solidFill>
            <a:srgbClr val="A5D6A7"/>
          </a:solidFill>
          <a:ln/>
        </p:spPr>
      </p:sp>
      <p:sp>
        <p:nvSpPr>
          <p:cNvPr id="6" name="Shape 3"/>
          <p:cNvSpPr/>
          <p:nvPr/>
        </p:nvSpPr>
        <p:spPr>
          <a:xfrm>
            <a:off x="457200" y="1554480"/>
            <a:ext cx="3291840" cy="786384"/>
          </a:xfrm>
          <a:custGeom>
            <a:avLst/>
            <a:gdLst/>
            <a:ahLst/>
            <a:cxnLst/>
            <a:rect l="l" t="t" r="r" b="b"/>
            <a:pathLst>
              <a:path w="3291840" h="786384">
                <a:moveTo>
                  <a:pt x="0" y="0"/>
                </a:moveTo>
                <a:lnTo>
                  <a:pt x="3291840" y="0"/>
                </a:lnTo>
                <a:lnTo>
                  <a:pt x="329184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1F8E9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600200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任务一（仿写）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仿照课文写法，写一段150字左右的写景片段，抓住一个特点。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57200" y="2432304"/>
            <a:ext cx="3291840" cy="786384"/>
          </a:xfrm>
          <a:custGeom>
            <a:avLst/>
            <a:gdLst/>
            <a:ahLst/>
            <a:cxnLst/>
            <a:rect l="l" t="t" r="r" b="b"/>
            <a:pathLst>
              <a:path w="3291840" h="786384">
                <a:moveTo>
                  <a:pt x="0" y="0"/>
                </a:moveTo>
                <a:lnTo>
                  <a:pt x="3291840" y="0"/>
                </a:lnTo>
                <a:lnTo>
                  <a:pt x="329184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1F8E9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478024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任务二（比较阅读）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读老舍另一篇写景作品，比较手法异同。</a:t>
            </a:r>
            <a:endParaRPr lang="en-US" sz="1152" dirty="0"/>
          </a:p>
        </p:txBody>
      </p:sp>
      <p:sp>
        <p:nvSpPr>
          <p:cNvPr id="10" name="Shape 7"/>
          <p:cNvSpPr/>
          <p:nvPr/>
        </p:nvSpPr>
        <p:spPr>
          <a:xfrm>
            <a:off x="457200" y="3310128"/>
            <a:ext cx="3291840" cy="786384"/>
          </a:xfrm>
          <a:custGeom>
            <a:avLst/>
            <a:gdLst/>
            <a:ahLst/>
            <a:cxnLst/>
            <a:rect l="l" t="t" r="r" b="b"/>
            <a:pathLst>
              <a:path w="3291840" h="786384">
                <a:moveTo>
                  <a:pt x="0" y="0"/>
                </a:moveTo>
                <a:lnTo>
                  <a:pt x="3291840" y="0"/>
                </a:lnTo>
                <a:lnTo>
                  <a:pt x="3291840" y="786384"/>
                </a:lnTo>
                <a:lnTo>
                  <a:pt x="0" y="786384"/>
                </a:lnTo>
                <a:close/>
              </a:path>
            </a:pathLst>
          </a:custGeom>
          <a:solidFill>
            <a:srgbClr val="F1F8E9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3355848"/>
            <a:ext cx="310896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任务三（口语表达）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008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把课文讲给家人听，交流感受。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4023360" y="1554480"/>
            <a:ext cx="4663440" cy="2542032"/>
          </a:xfrm>
          <a:custGeom>
            <a:avLst/>
            <a:gdLst/>
            <a:ahLst/>
            <a:cxnLst/>
            <a:rect l="l" t="t" r="r" b="b"/>
            <a:pathLst>
              <a:path w="4663440" h="2542032">
                <a:moveTo>
                  <a:pt x="0" y="0"/>
                </a:moveTo>
                <a:lnTo>
                  <a:pt x="4663440" y="0"/>
                </a:lnTo>
                <a:lnTo>
                  <a:pt x="4663440" y="2542032"/>
                </a:lnTo>
                <a:lnTo>
                  <a:pt x="0" y="2542032"/>
                </a:lnTo>
                <a:close/>
              </a:path>
            </a:pathLst>
          </a:custGeom>
          <a:solidFill>
            <a:srgbClr val="E8F5E9"/>
          </a:solidFill>
          <a:ln/>
        </p:spPr>
      </p:sp>
      <p:sp>
        <p:nvSpPr>
          <p:cNvPr id="13" name="Text 10"/>
          <p:cNvSpPr/>
          <p:nvPr/>
        </p:nvSpPr>
        <p:spPr>
          <a:xfrm>
            <a:off x="4206240" y="1691640"/>
            <a:ext cx="4297680" cy="4754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示范一例</a:t>
            </a:r>
            <a:endParaRPr lang="en-US" sz="1152" dirty="0"/>
          </a:p>
        </p:txBody>
      </p:sp>
      <p:sp>
        <p:nvSpPr>
          <p:cNvPr id="14" name="Text 11"/>
          <p:cNvSpPr/>
          <p:nvPr/>
        </p:nvSpPr>
        <p:spPr>
          <a:xfrm>
            <a:off x="4206240" y="2240280"/>
            <a:ext cx="42976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632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夏日的荷塘，宛如一幅水墨画。荷叶田田，如碧绿的伞盖，层层叠叠地铺满水面。荷花点缀其间，有的含苞待放，羞涩地低垂着头；有的尽情绽放，露出嫩黄的花蕊，引来蜜蜂嗡嗡作响。微风拂过，送来缕缕清香，沁人心脾。</a:t>
            </a:r>
            <a:endParaRPr lang="en-US" sz="1152" dirty="0"/>
          </a:p>
        </p:txBody>
      </p:sp>
      <p:sp>
        <p:nvSpPr>
          <p:cNvPr id="15" name="Shape 12"/>
          <p:cNvSpPr/>
          <p:nvPr/>
        </p:nvSpPr>
        <p:spPr>
          <a:xfrm>
            <a:off x="457200" y="4206240"/>
            <a:ext cx="4023360" cy="475488"/>
          </a:xfrm>
          <a:custGeom>
            <a:avLst/>
            <a:gdLst/>
            <a:ahLst/>
            <a:cxnLst/>
            <a:rect l="l" t="t" r="r" b="b"/>
            <a:pathLst>
              <a:path w="4023360" h="475488">
                <a:moveTo>
                  <a:pt x="0" y="0"/>
                </a:moveTo>
                <a:lnTo>
                  <a:pt x="4023360" y="0"/>
                </a:lnTo>
                <a:lnTo>
                  <a:pt x="402336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C8E6C9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4233672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当堂小练笔：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请根据所选任务，在练习本上完成写作或构思。</a:t>
            </a:r>
            <a:endParaRPr lang="en-US" sz="1152" dirty="0"/>
          </a:p>
        </p:txBody>
      </p:sp>
      <p:sp>
        <p:nvSpPr>
          <p:cNvPr id="17" name="Shape 14"/>
          <p:cNvSpPr/>
          <p:nvPr/>
        </p:nvSpPr>
        <p:spPr>
          <a:xfrm>
            <a:off x="4663440" y="4206240"/>
            <a:ext cx="4023360" cy="475488"/>
          </a:xfrm>
          <a:custGeom>
            <a:avLst/>
            <a:gdLst/>
            <a:ahLst/>
            <a:cxnLst/>
            <a:rect l="l" t="t" r="r" b="b"/>
            <a:pathLst>
              <a:path w="4023360" h="475488">
                <a:moveTo>
                  <a:pt x="0" y="0"/>
                </a:moveTo>
                <a:lnTo>
                  <a:pt x="4023360" y="0"/>
                </a:lnTo>
                <a:lnTo>
                  <a:pt x="4023360" y="475488"/>
                </a:lnTo>
                <a:lnTo>
                  <a:pt x="0" y="475488"/>
                </a:lnTo>
                <a:close/>
              </a:path>
            </a:pathLst>
          </a:custGeom>
          <a:solidFill>
            <a:srgbClr val="C8E6C9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4233672"/>
            <a:ext cx="384048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展示与交流：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1B5E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小组内互相朗读，依据‘特点鲜明、语言生动’标准进行评价。</a:t>
            </a:r>
            <a:endParaRPr lang="en-US" sz="115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5C3A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课堂小结与分层作业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28016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136245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内容回顾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济南的冬天『温晴』——宝地、山、水、摇篮</a:t>
            </a:r>
            <a:endParaRPr lang="en-US" sz="1152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245973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写法赏析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对比、拟人、情景交融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548640" y="3474720"/>
            <a:ext cx="3840480" cy="914400"/>
          </a:xfrm>
          <a:custGeom>
            <a:avLst/>
            <a:gdLst/>
            <a:ahLst/>
            <a:cxnLst/>
            <a:rect l="l" t="t" r="r" b="b"/>
            <a:pathLst>
              <a:path w="3840480" h="914400">
                <a:moveTo>
                  <a:pt x="0" y="0"/>
                </a:moveTo>
                <a:lnTo>
                  <a:pt x="3840480" y="0"/>
                </a:lnTo>
                <a:lnTo>
                  <a:pt x="3840480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FFF3E0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57016"/>
            <a:ext cx="3474720" cy="74980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情感体悟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眷恋与赞美，一切景语皆情语</a:t>
            </a:r>
            <a:endParaRPr lang="en-US" sz="1152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3840480" cy="3108960"/>
        </p:xfrm>
        <a:graphic>
          <a:graphicData uri="http://schemas.openxmlformats.org/drawingml/2006/table">
            <a:tbl>
              <a:tblPr/>
              <a:tblGrid>
                <a:gridCol w="1344168"/>
                <a:gridCol w="2496312"/>
              </a:tblGrid>
              <a:tr h="1036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96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作业类型</a:t>
                      </a:r>
                      <a:endParaRPr lang="en-US" sz="1296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96" b="1" u="none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具体要求</a:t>
                      </a:r>
                      <a:endParaRPr lang="en-US" sz="1296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5C3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基础作业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2" u="none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抄写生字词、朗读背诵、课后基础题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36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2" b="1" u="none" dirty="0">
                          <a:solidFill>
                            <a:srgbClr val="5C3A2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拓展作业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2" u="none" dirty="0">
                          <a:solidFill>
                            <a:srgbClr val="4A4A4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选做仿写、阅读老舍另一作品、讲给家人听</a:t>
                      </a:r>
                      <a:endParaRPr lang="en-US" sz="1152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288" cap="flat" cmpd="sng" algn="ctr">
                      <a:solidFill>
                        <a:srgbClr val="E67E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4663440"/>
            <a:ext cx="8046720" cy="457200"/>
          </a:xfrm>
          <a:custGeom>
            <a:avLst/>
            <a:gdLst/>
            <a:ahLst/>
            <a:cxnLst/>
            <a:rect l="l" t="t" r="r" b="b"/>
            <a:pathLst>
              <a:path w="8046720" h="457200">
                <a:moveTo>
                  <a:pt x="0" y="0"/>
                </a:moveTo>
                <a:lnTo>
                  <a:pt x="8046720" y="0"/>
                </a:lnTo>
                <a:lnTo>
                  <a:pt x="804672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FDF2E9"/>
          </a:solidFill>
          <a:ln/>
        </p:spPr>
      </p:sp>
      <p:sp>
        <p:nvSpPr>
          <p:cNvPr id="12" name="Text 8"/>
          <p:cNvSpPr/>
          <p:nvPr/>
        </p:nvSpPr>
        <p:spPr>
          <a:xfrm>
            <a:off x="731520" y="4681728"/>
            <a:ext cx="768096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b="1" dirty="0">
                <a:solidFill>
                  <a:srgbClr val="D354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支持导出 .pptx 课件，可生成离线课堂包供无网络环境使用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2026-09-16T01:27:16Z</dcterms:created>
  <dcterms:modified xsi:type="dcterms:W3CDTF">2026-09-16T01:27:16Z</dcterms:modified>
</cp:coreProperties>
</file>